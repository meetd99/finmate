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17" r:id="rId7"/>
    <p:sldId id="307" r:id="rId8"/>
    <p:sldId id="282" r:id="rId9"/>
    <p:sldId id="314" r:id="rId10"/>
    <p:sldId id="315" r:id="rId11"/>
    <p:sldId id="318" r:id="rId12"/>
    <p:sldId id="281" r:id="rId13"/>
    <p:sldId id="297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202C8F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74" d="100"/>
          <a:sy n="74" d="100"/>
        </p:scale>
        <p:origin x="1042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1D3C3-0495-E419-19F8-7FCBF6DE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E6CBB-9955-E3A8-277A-35CCACF37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9E2E6F-5DAA-1BAE-7CC3-CE2679712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341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613582"/>
            <a:ext cx="6392421" cy="3831221"/>
          </a:xfrm>
        </p:spPr>
        <p:txBody>
          <a:bodyPr anchor="ctr"/>
          <a:lstStyle/>
          <a:p>
            <a:r>
              <a:rPr lang="en-US" sz="6000" dirty="0" err="1"/>
              <a:t>Finmate</a:t>
            </a:r>
            <a:br>
              <a:rPr lang="en-US" dirty="0"/>
            </a:br>
            <a:r>
              <a:rPr lang="en-IN" dirty="0"/>
              <a:t>Smart Investment Advisory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DC74A7-F9AF-1DC0-6B0A-7E2A07897436}"/>
              </a:ext>
            </a:extLst>
          </p:cNvPr>
          <p:cNvSpPr txBox="1"/>
          <p:nvPr/>
        </p:nvSpPr>
        <p:spPr>
          <a:xfrm>
            <a:off x="4218039" y="447122"/>
            <a:ext cx="3755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Team 23 | Use Case 1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1AC209-86E3-6033-C0B4-A33C3CE43779}"/>
              </a:ext>
            </a:extLst>
          </p:cNvPr>
          <p:cNvSpPr txBox="1"/>
          <p:nvPr/>
        </p:nvSpPr>
        <p:spPr>
          <a:xfrm>
            <a:off x="1715728" y="6244418"/>
            <a:ext cx="8760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DFBF6"/>
                </a:solidFill>
              </a:rPr>
              <a:t>Meet Dholakia | Eliza Das | Raman Pradhan | Gaurav Dhyani | Aastha Garg | Prerna Jain</a:t>
            </a:r>
            <a:endParaRPr lang="en-IN" dirty="0">
              <a:solidFill>
                <a:srgbClr val="FDFBF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1" y="1673842"/>
            <a:ext cx="6583680" cy="661508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581" y="2335350"/>
            <a:ext cx="7629832" cy="3207344"/>
          </a:xfrm>
        </p:spPr>
        <p:txBody>
          <a:bodyPr>
            <a:normAutofit/>
          </a:bodyPr>
          <a:lstStyle/>
          <a:p>
            <a:r>
              <a:rPr lang="en-US" sz="3200" b="1" dirty="0" err="1"/>
              <a:t>Finmate</a:t>
            </a:r>
            <a:r>
              <a:rPr lang="en-US" sz="3200" dirty="0"/>
              <a:t> is an intelligent personal finance and investment advisory platform designed to help individuals make smarter financial decisions.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147129"/>
            <a:ext cx="7631709" cy="1091627"/>
          </a:xfrm>
        </p:spPr>
        <p:txBody>
          <a:bodyPr/>
          <a:lstStyle/>
          <a:p>
            <a:r>
              <a:rPr lang="en-US" dirty="0"/>
              <a:t>Flow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9D2BA36-0656-F396-2421-FCE392903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87" y="1684493"/>
            <a:ext cx="11079426" cy="394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9524" y="1922357"/>
            <a:ext cx="4621430" cy="2585579"/>
          </a:xfrm>
        </p:spPr>
        <p:txBody>
          <a:bodyPr/>
          <a:lstStyle/>
          <a:p>
            <a:r>
              <a:rPr lang="en-US" sz="4800" dirty="0"/>
              <a:t>Outcomes</a:t>
            </a:r>
            <a:r>
              <a:rPr lang="en-US" sz="4400" dirty="0"/>
              <a:t> </a:t>
            </a:r>
            <a:r>
              <a:rPr lang="en-US" sz="4800" dirty="0"/>
              <a:t>Delivered</a:t>
            </a:r>
            <a:endParaRPr lang="en-US" sz="44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4DB83A8-538E-8E0B-CC35-B0CB52B7FD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75" y="920621"/>
            <a:ext cx="554991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User login &amp; upload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Smart transaction categorization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Spend trim advisory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Risk profile assessment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Tailored portfolio allocation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Investment knowledge center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Interactive analytics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PDF report export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Gamified user badges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ahnschrift SemiCondensed" panose="020B0502040204020203" pitchFamily="34" charset="0"/>
              </a:rPr>
              <a:t>Financial tools &amp; videos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B955D455-6F48-9117-82DF-44233E37D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0640" y="176534"/>
            <a:ext cx="6419850" cy="1217449"/>
          </a:xfrm>
        </p:spPr>
        <p:txBody>
          <a:bodyPr/>
          <a:lstStyle/>
          <a:p>
            <a:r>
              <a:rPr lang="en-US" dirty="0"/>
              <a:t>Registration and Risk Appetite Form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EF9CA5C-819D-A49D-0639-DB9E2DD9E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924" y="1408088"/>
            <a:ext cx="5879076" cy="28107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81A2205-F37E-C275-3A93-F8447FABF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755" y="3662739"/>
            <a:ext cx="6223820" cy="29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4590" y="692943"/>
            <a:ext cx="7043617" cy="528241"/>
          </a:xfrm>
        </p:spPr>
        <p:txBody>
          <a:bodyPr/>
          <a:lstStyle/>
          <a:p>
            <a:r>
              <a:rPr lang="en-US" sz="4400" dirty="0"/>
              <a:t>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7BF09C-DC94-F151-C451-42CADD036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896" y="1421286"/>
            <a:ext cx="7796981" cy="37480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B0C20F-8221-A7E6-7BF3-E49514CEDE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768506"/>
            <a:ext cx="5847736" cy="280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BB36CDC-9147-6049-DBD8-69B3A1F2E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288" y="1646164"/>
            <a:ext cx="4585888" cy="2444055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9C03A22-BBDC-F454-0985-0B8B3F66A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88" y="1031419"/>
            <a:ext cx="11041596" cy="528241"/>
          </a:xfrm>
        </p:spPr>
        <p:txBody>
          <a:bodyPr/>
          <a:lstStyle/>
          <a:p>
            <a:r>
              <a:rPr lang="en-US" sz="4400" dirty="0"/>
              <a:t>Trim, Portfolio &amp; Knowledge center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C22C680-88D2-D0F0-FAD9-C46A87084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176" y="1031419"/>
            <a:ext cx="6393836" cy="3058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411DA9C-5CB8-E3E1-20DE-29A4B4C2E6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335" y="4305158"/>
            <a:ext cx="5131712" cy="244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57A03-6E08-40C0-004E-D665942DC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F5F3-B130-10CF-866B-E45D1631D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090" y="3866324"/>
            <a:ext cx="6583680" cy="661508"/>
          </a:xfrm>
        </p:spPr>
        <p:txBody>
          <a:bodyPr/>
          <a:lstStyle/>
          <a:p>
            <a:r>
              <a:rPr lang="en-US" sz="6600" dirty="0"/>
              <a:t>Project</a:t>
            </a:r>
            <a:br>
              <a:rPr lang="en-US" sz="6600" dirty="0"/>
            </a:br>
            <a:r>
              <a:rPr lang="en-US" sz="6600" dirty="0"/>
              <a:t>Demo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054A46-2801-2403-9ED2-5A979F5C08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668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4C8B612-1F10-B0DD-FB31-6EFCDD85E9C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1377" r="21377"/>
          <a:stretch>
            <a:fillRect/>
          </a:stretch>
        </p:blipFill>
        <p:spPr>
          <a:xfrm>
            <a:off x="7423611" y="411163"/>
            <a:ext cx="4344987" cy="6446837"/>
          </a:xfr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16E107C9-1475-6ABE-2BC7-3E801BE6B5A7}"/>
              </a:ext>
            </a:extLst>
          </p:cNvPr>
          <p:cNvSpPr txBox="1">
            <a:spLocks/>
          </p:cNvSpPr>
          <p:nvPr/>
        </p:nvSpPr>
        <p:spPr>
          <a:xfrm>
            <a:off x="683253" y="645566"/>
            <a:ext cx="5107858" cy="105236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Overcoming Nervousness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7D1F5F1A-C538-FF02-72E9-AEAECCFE5062}"/>
              </a:ext>
            </a:extLst>
          </p:cNvPr>
          <p:cNvSpPr txBox="1">
            <a:spLocks/>
          </p:cNvSpPr>
          <p:nvPr/>
        </p:nvSpPr>
        <p:spPr>
          <a:xfrm>
            <a:off x="3335504" y="5115746"/>
            <a:ext cx="5107858" cy="105236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Breakdown of Communication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F584D2B-90CC-593E-DBFD-D0C4C1A6B726}"/>
              </a:ext>
            </a:extLst>
          </p:cNvPr>
          <p:cNvSpPr txBox="1">
            <a:spLocks/>
          </p:cNvSpPr>
          <p:nvPr/>
        </p:nvSpPr>
        <p:spPr>
          <a:xfrm>
            <a:off x="4488246" y="2060392"/>
            <a:ext cx="5107858" cy="105236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 Brains,</a:t>
            </a:r>
          </a:p>
          <a:p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10 Ways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C1825F5-ED9D-FEF6-D416-7D42F31F189D}"/>
              </a:ext>
            </a:extLst>
          </p:cNvPr>
          <p:cNvSpPr txBox="1">
            <a:spLocks/>
          </p:cNvSpPr>
          <p:nvPr/>
        </p:nvSpPr>
        <p:spPr>
          <a:xfrm>
            <a:off x="683253" y="3406836"/>
            <a:ext cx="5107858" cy="1052360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Mirage of </a:t>
            </a:r>
          </a:p>
          <a:p>
            <a:r>
              <a:rPr lang="en-US" sz="2800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fixation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433" y="727364"/>
            <a:ext cx="5756675" cy="630273"/>
          </a:xfrm>
        </p:spPr>
        <p:txBody>
          <a:bodyPr/>
          <a:lstStyle/>
          <a:p>
            <a:r>
              <a:rPr lang="en-US" sz="5400" dirty="0"/>
              <a:t>Thank you!!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4364C9-DEAA-8C1B-D4C2-FABC7C3C53CC}"/>
              </a:ext>
            </a:extLst>
          </p:cNvPr>
          <p:cNvSpPr txBox="1"/>
          <p:nvPr/>
        </p:nvSpPr>
        <p:spPr>
          <a:xfrm>
            <a:off x="727364" y="6057900"/>
            <a:ext cx="4478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are open for questions!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{2B292C48-9222-43E4-B839-0B862CDA002B}tf78438558_win32</Template>
  <TotalTime>193</TotalTime>
  <Words>126</Words>
  <Application>Microsoft Office PowerPoint</Application>
  <PresentationFormat>Widescreen</PresentationFormat>
  <Paragraphs>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Bahnschrift SemiCondensed</vt:lpstr>
      <vt:lpstr>Calibri</vt:lpstr>
      <vt:lpstr>Sabon Next LT</vt:lpstr>
      <vt:lpstr>Custom</vt:lpstr>
      <vt:lpstr>Finmate Smart Investment Advisory </vt:lpstr>
      <vt:lpstr>Introduction</vt:lpstr>
      <vt:lpstr>Flow Diagram</vt:lpstr>
      <vt:lpstr>Outcomes Delivered</vt:lpstr>
      <vt:lpstr>Registration and Risk Appetite Form</vt:lpstr>
      <vt:lpstr>Dashboard</vt:lpstr>
      <vt:lpstr>Trim, Portfolio &amp; Knowledge center</vt:lpstr>
      <vt:lpstr>Project Demo</vt:lpstr>
      <vt:lpstr>PowerPoint Presentation</vt:lpstr>
      <vt:lpstr>Thank you!!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Meet Dholakia</dc:creator>
  <cp:lastModifiedBy>Meet Dholakia</cp:lastModifiedBy>
  <cp:revision>2</cp:revision>
  <dcterms:created xsi:type="dcterms:W3CDTF">2025-10-12T02:03:54Z</dcterms:created>
  <dcterms:modified xsi:type="dcterms:W3CDTF">2025-10-12T05:17:33Z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